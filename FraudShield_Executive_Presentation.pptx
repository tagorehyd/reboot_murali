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371600"/>
            <a:ext cx="9448495" cy="41148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400" b="1">
                <a:solidFill>
                  <a:srgbClr val="06B6D4"/>
                </a:solidFill>
              </a:defRPr>
            </a:pPr>
            <a:r>
              <a:t>⚡ FraudShield</a:t>
            </a:r>
          </a:p>
          <a:p>
            <a:pPr algn="ctr">
              <a:defRPr sz="2400" b="1">
                <a:solidFill>
                  <a:srgbClr val="F8FAFC"/>
                </a:solidFill>
              </a:defRPr>
            </a:pPr>
            <a:r>
              <a:t>Decentralized Interbank Fraud Defense Platform</a:t>
            </a:r>
          </a:p>
          <a:p>
            <a:br/>
            <a:pPr algn="ctr">
              <a:defRPr sz="1400">
                <a:solidFill>
                  <a:srgbClr val="94A3B8"/>
                </a:solidFill>
              </a:defRPr>
            </a:pPr>
            <a:r>
              <a:t>Canton DAML Ledger Consensus • 8D Isolation Forest ML • BFT Multi-Node Telemetry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FRAUDSHIELD ENTERPRISE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Executive Summary &amp; Core Capabilities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365760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⛓️ Canton DAML Ledger</a:t>
            </a:r>
          </a:p>
          <a:p>
            <a:br/>
            <a:pPr>
              <a:defRPr sz="1300">
                <a:solidFill>
                  <a:srgbClr val="94A3B8"/>
                </a:solidFill>
              </a:defRPr>
            </a:pPr>
            <a:r>
              <a:t>Permanent, tamper-evident interbank ledger. Guarantees immutable audit trails, multi-sig consents, and escrow locks across participant nodes.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365760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🧠 8D Isolation Forest ML</a:t>
            </a:r>
          </a:p>
          <a:p>
            <a:br/>
            <a:pPr>
              <a:defRPr sz="1300">
                <a:solidFill>
                  <a:srgbClr val="94A3B8"/>
                </a:solidFill>
              </a:defRPr>
            </a:pPr>
            <a:r>
              <a:t>Real-time vector scoring on 8 fraud parameters (Amount, Frequency, Off-Hours, Velocity, Distance, Trust Tier) returning precise 0.00-1.00 risk scores.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365760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🛡️ Multi-Tier Risk Defense</a:t>
            </a:r>
          </a:p>
          <a:p>
            <a:br/>
            <a:pPr>
              <a:defRPr sz="1300">
                <a:solidFill>
                  <a:srgbClr val="94A3B8"/>
                </a:solidFill>
              </a:defRPr>
            </a:pPr>
            <a:r>
              <a:t>3-Tier automated risk controls: Tier 1 Auto-Approve (&lt;30), Tier 2 Customer Consent (30-70), and Tier 3 High-Risk Multi-Sig Hold (&gt;70).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FRAUDSHIELD ENTERPRISE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System Architecture &amp; Telemetry Grid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/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⚙️ Spring Boot API</a:t>
            </a:r>
          </a:p>
          <a:p>
            <a:pPr>
              <a:defRPr sz="1100" b="1">
                <a:solidFill>
                  <a:srgbClr val="06B6D4"/>
                </a:solidFill>
              </a:defRPr>
            </a:pPr>
            <a:r>
              <a:t>Port 8080 • Java 17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Core orchestration engine &amp; REST controller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645920"/>
            <a:ext cx="329184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/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⛓️ Canton Ledger</a:t>
            </a:r>
          </a:p>
          <a:p>
            <a:pPr>
              <a:defRPr sz="1100" b="1">
                <a:solidFill>
                  <a:srgbClr val="10B981"/>
                </a:solidFill>
              </a:defRPr>
            </a:pPr>
            <a:r>
              <a:t>Domain Alpha-v1 • BFT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Distributed DAML smart contract synchronizer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1645920"/>
            <a:ext cx="329184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/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🧠 ML Engine</a:t>
            </a:r>
          </a:p>
          <a:p>
            <a:pPr>
              <a:defRPr sz="1100" b="1">
                <a:solidFill>
                  <a:srgbClr val="A855F7"/>
                </a:solidFill>
              </a:defRPr>
            </a:pPr>
            <a:r>
              <a:t>Isolation Forest 8D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Real-time anomaly scoring 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329184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/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🗄️ MongoDB DB</a:t>
            </a:r>
          </a:p>
          <a:p>
            <a:pPr>
              <a:defRPr sz="1100" b="1">
                <a:solidFill>
                  <a:srgbClr val="10B981"/>
                </a:solidFill>
              </a:defRPr>
            </a:pPr>
            <a:r>
              <a:t>Port 27017 • Ledger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Persistent transaction &amp; state repository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3931920"/>
            <a:ext cx="329184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/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🤖 NVIDIA NIM AI</a:t>
            </a:r>
          </a:p>
          <a:p>
            <a:pPr>
              <a:defRPr sz="1100" b="1">
                <a:solidFill>
                  <a:srgbClr val="06B6D4"/>
                </a:solidFill>
              </a:defRPr>
            </a:pPr>
            <a:r>
              <a:t>Nemotron RAG Assistant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Contextual vector assistant for payments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3931920"/>
            <a:ext cx="329184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/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🌐 Bank Gateways</a:t>
            </a:r>
          </a:p>
          <a:p>
            <a:pPr>
              <a:defRPr sz="1100" b="1">
                <a:solidFill>
                  <a:srgbClr val="10B981"/>
                </a:solidFill>
              </a:defRPr>
            </a:pPr>
            <a:r>
              <a:t>Bank A / B / C Routers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Interbank JSON API routing gateways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FRAUDSHIELD ENTERPRISE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Canton Distributed Synchronizer &amp; Validator Matrix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2011680" cy="38404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274320"/>
          <a:lstStyle/>
          <a:p>
            <a:pPr algn="ctr">
              <a:defRPr sz="1300" b="1">
                <a:solidFill>
                  <a:srgbClr val="F8FAFC"/>
                </a:solidFill>
              </a:defRPr>
            </a:pPr>
            <a:r>
              <a:t>Bank A Participant</a:t>
            </a:r>
          </a:p>
          <a:p>
            <a:pPr>
              <a:defRPr sz="1000" b="1">
                <a:solidFill>
                  <a:srgbClr val="10B981"/>
                </a:solidFill>
              </a:defRPr>
            </a:pPr>
            <a:r>
              <a:t>Payer Node</a:t>
            </a:r>
          </a:p>
          <a:p>
            <a:pPr>
              <a:defRPr sz="900">
                <a:solidFill>
                  <a:srgbClr val="06B6D4"/>
                </a:solidFill>
              </a:defRPr>
            </a:pPr>
            <a:r>
              <a:t>Port 5001 / 5002</a:t>
            </a:r>
          </a:p>
          <a:p>
            <a:br/>
            <a:pPr>
              <a:defRPr sz="1000">
                <a:solidFill>
                  <a:srgbClr val="94A3B8"/>
                </a:solidFill>
              </a:defRPr>
            </a:pPr>
            <a:r>
              <a:t>Validates &amp; signs outgoing payment proposals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80360" y="2011680"/>
            <a:ext cx="2011680" cy="38404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274320"/>
          <a:lstStyle/>
          <a:p>
            <a:pPr algn="ctr">
              <a:defRPr sz="1300" b="1">
                <a:solidFill>
                  <a:srgbClr val="F8FAFC"/>
                </a:solidFill>
              </a:defRPr>
            </a:pPr>
            <a:r>
              <a:t>Bank B Participant</a:t>
            </a:r>
          </a:p>
          <a:p>
            <a:pPr>
              <a:defRPr sz="1000" b="1">
                <a:solidFill>
                  <a:srgbClr val="10B981"/>
                </a:solidFill>
              </a:defRPr>
            </a:pPr>
            <a:r>
              <a:t>Payee Node</a:t>
            </a:r>
          </a:p>
          <a:p>
            <a:pPr>
              <a:defRPr sz="900">
                <a:solidFill>
                  <a:srgbClr val="06B6D4"/>
                </a:solidFill>
              </a:defRPr>
            </a:pPr>
            <a:r>
              <a:t>Port 5011 / 5012</a:t>
            </a:r>
          </a:p>
          <a:p>
            <a:br/>
            <a:pPr>
              <a:defRPr sz="1000">
                <a:solidFill>
                  <a:srgbClr val="94A3B8"/>
                </a:solidFill>
              </a:defRPr>
            </a:pPr>
            <a:r>
              <a:t>Validates beneficiary receipt &amp; ledger updates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2011680"/>
            <a:ext cx="2011680" cy="38404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274320"/>
          <a:lstStyle/>
          <a:p>
            <a:pPr algn="ctr">
              <a:defRPr sz="1300" b="1">
                <a:solidFill>
                  <a:srgbClr val="F8FAFC"/>
                </a:solidFill>
              </a:defRPr>
            </a:pPr>
            <a:r>
              <a:t>Bank C Participant</a:t>
            </a:r>
          </a:p>
          <a:p>
            <a:pPr>
              <a:defRPr sz="1000" b="1">
                <a:solidFill>
                  <a:srgbClr val="10B981"/>
                </a:solidFill>
              </a:defRPr>
            </a:pPr>
            <a:r>
              <a:t>Payee Node</a:t>
            </a:r>
          </a:p>
          <a:p>
            <a:pPr>
              <a:defRPr sz="900">
                <a:solidFill>
                  <a:srgbClr val="06B6D4"/>
                </a:solidFill>
              </a:defRPr>
            </a:pPr>
            <a:r>
              <a:t>Port 5021 / 5022</a:t>
            </a:r>
          </a:p>
          <a:p>
            <a:br/>
            <a:pPr>
              <a:defRPr sz="1000">
                <a:solidFill>
                  <a:srgbClr val="94A3B8"/>
                </a:solidFill>
              </a:defRPr>
            </a:pPr>
            <a:r>
              <a:t>Consensus participant for multi-bank clearing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78040" y="2011680"/>
            <a:ext cx="2011680" cy="38404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274320"/>
          <a:lstStyle/>
          <a:p>
            <a:pPr algn="ctr">
              <a:defRPr sz="1300" b="1">
                <a:solidFill>
                  <a:srgbClr val="F8FAFC"/>
                </a:solidFill>
              </a:defRPr>
            </a:pPr>
            <a:r>
              <a:t>Regulator Node</a:t>
            </a:r>
          </a:p>
          <a:p>
            <a:pPr>
              <a:defRPr sz="1000" b="1">
                <a:solidFill>
                  <a:srgbClr val="10B981"/>
                </a:solidFill>
              </a:defRPr>
            </a:pPr>
            <a:r>
              <a:t>Auditor</a:t>
            </a:r>
          </a:p>
          <a:p>
            <a:pPr>
              <a:defRPr sz="900">
                <a:solidFill>
                  <a:srgbClr val="06B6D4"/>
                </a:solidFill>
              </a:defRPr>
            </a:pPr>
            <a:r>
              <a:t>Port 5031 / 5032</a:t>
            </a:r>
          </a:p>
          <a:p>
            <a:br/>
            <a:pPr>
              <a:defRPr sz="1000">
                <a:solidFill>
                  <a:srgbClr val="94A3B8"/>
                </a:solidFill>
              </a:defRPr>
            </a:pPr>
            <a:r>
              <a:t>Read-only access for real-time compliance oversight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26880" y="2011680"/>
            <a:ext cx="2011680" cy="38404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274320"/>
          <a:lstStyle/>
          <a:p>
            <a:pPr algn="ctr">
              <a:defRPr sz="1300" b="1">
                <a:solidFill>
                  <a:srgbClr val="F8FAFC"/>
                </a:solidFill>
              </a:defRPr>
            </a:pPr>
            <a:r>
              <a:t>Mediator Node</a:t>
            </a:r>
          </a:p>
          <a:p>
            <a:pPr>
              <a:defRPr sz="1000" b="1">
                <a:solidFill>
                  <a:srgbClr val="10B981"/>
                </a:solidFill>
              </a:defRPr>
            </a:pPr>
            <a:r>
              <a:t>Consensus</a:t>
            </a:r>
          </a:p>
          <a:p>
            <a:pPr>
              <a:defRPr sz="900">
                <a:solidFill>
                  <a:srgbClr val="06B6D4"/>
                </a:solidFill>
              </a:defRPr>
            </a:pPr>
            <a:r>
              <a:t>Canton BFT</a:t>
            </a:r>
          </a:p>
          <a:p>
            <a:br/>
            <a:pPr>
              <a:defRPr sz="1000">
                <a:solidFill>
                  <a:srgbClr val="94A3B8"/>
                </a:solidFill>
              </a:defRPr>
            </a:pPr>
            <a:r>
              <a:t>Orchestrates 2PC BFT commitment across nodes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FRAUDSHIELD ENTERPRISE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3-Tier Risk Defense &amp; Isolation Forest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74320"/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Tier 1: Low Risk (&lt;30)</a:t>
            </a:r>
          </a:p>
          <a:p>
            <a:pPr>
              <a:defRPr sz="1200" b="1">
                <a:solidFill>
                  <a:srgbClr val="10B981"/>
                </a:solidFill>
              </a:defRPr>
            </a:pPr>
            <a:r>
              <a:t>AUTO_APPROVE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Transactions under £1,000 with low anomaly score auto-settle instantly on Canton ledger.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645920"/>
            <a:ext cx="3291840" cy="43891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74320"/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Tier 2: Medium Risk (30-70)</a:t>
            </a:r>
          </a:p>
          <a:p>
            <a:pPr>
              <a:defRPr sz="1200" b="1">
                <a:solidFill>
                  <a:srgbClr val="F59E0B"/>
                </a:solidFill>
              </a:defRPr>
            </a:pPr>
            <a:r>
              <a:t>PENDING_CONSENT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Triggers explicit customer 2FA/consent requirement before releasing hold.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1645920"/>
            <a:ext cx="3291840" cy="43891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74320"/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Tier 3: High Risk (&gt;70)</a:t>
            </a:r>
          </a:p>
          <a:p>
            <a:pPr>
              <a:defRPr sz="1200" b="1">
                <a:solidFill>
                  <a:srgbClr val="EF4444"/>
                </a:solidFill>
              </a:defRPr>
            </a:pPr>
            <a:r>
              <a:t>PENDING_ADMIN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Initiates multi-sig compliance hold requiring compliance officer clearance.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