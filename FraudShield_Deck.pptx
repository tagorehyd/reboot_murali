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controls detect/reimburse after the event. FraudShield targets the missing window: before settlement. Fraud moves in seconds; investigation in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Industry cannot solve this only by reimbursing. Banks must collaborate before funds vanish. Paying back is protection; stopping fraud is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design. Not a new bank or payment rail — a shared trust layer enabling real-time scoring, smart holds, shared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payment screened before execution: who, device, beneficiary, amount, mule link. Output: Green/Amber/Red.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blocking everything. Good payments stay fast; risky payments become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Validator, gateway-only, observer, intel contributor roles. Banks join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Blockchain here = shared evidence book, not crypto hype. One faulty node cannot rewrite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contracts = automated safety rules. They hold risky payments until trust is restored.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asking every bank to become blockchain on day one. Adopt gradually, protect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business-friendly flow; each step understood without blockchain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strength: changing a record exposes it via hash chain + Merkle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depend only on LLM; rules keep decisions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grows safely with identity, governance,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has clear success metrics, not just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banks together, not one bank harder. PREVENT · PROVE · RESTORE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 Spring Boot + Hyperledger Fabric. Only hash/proof on-chain. &lt;200ms scoring before execution; horizontal scale across banks.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The Scam Happens Before the Bank Can Blink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Problem: fraud is faster than investigation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194560" cy="23774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1031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manipulated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by fake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194560" cy="237744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920240"/>
            <a:ext cx="21031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Payment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authorised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in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103120"/>
            <a:ext cx="1371600" cy="45720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651760"/>
            <a:ext cx="1371600" cy="45720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0" y="3200400"/>
            <a:ext cx="1371600" cy="45720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058400" cy="822960"/>
          </a:xfrm>
          <a:prstGeom prst="roundRect">
            <a:avLst/>
          </a:prstGeom>
          <a:solidFill>
            <a:srgbClr val="12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C43C"/>
                </a:solidFill>
                <a:latin typeface="Segoe UI"/>
              </a:rPr>
              <a:t>Bank alert arrives too late — money already gone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2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5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8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4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7" dur="500"/>
                            <p:tgtEl>
                              <p:spTgt spid="1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The Cost of Waiting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Reimbursement protects victims, but money already 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46320" cy="32918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Reimbursement protects victims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But criminals already move funds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UK losses &gt; £1bn/year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Reimbursement is reactive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394960" cy="3291840"/>
          </a:xfrm>
          <a:prstGeom prst="roundRect">
            <a:avLst/>
          </a:prstGeom>
          <a:solidFill>
            <a:srgbClr val="12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C43C"/>
                </a:solidFill>
                <a:latin typeface="Segoe UI"/>
              </a:rPr>
              <a:t>Mule network splits money fast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1097280" cy="6400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3749039"/>
            <a:ext cx="1097280" cy="6400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2834640"/>
            <a:ext cx="1097280" cy="6400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3749039"/>
            <a:ext cx="1097280" cy="6400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4572000"/>
            <a:ext cx="1828800" cy="4114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59943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TOO LATE?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2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30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33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36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39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42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45" dur="500"/>
                            <p:tgtEl>
                              <p:spTgt spid="1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48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Overview: A Plug-and-Play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FraudShield sits beside core banking — not replacing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554480"/>
            <a:ext cx="7040880" cy="54864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572768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Customer App / Web /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212848"/>
            <a:ext cx="7040880" cy="5486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231136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Bank Gateway Adapter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871215"/>
            <a:ext cx="7040880" cy="54864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889504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FraudShield Detection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529584"/>
            <a:ext cx="7040880" cy="54864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547872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Risk Decision Layer (Green/Amber/Red)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187952"/>
            <a:ext cx="7040880" cy="5486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206240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Smart Contract Protection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7040880" cy="548640"/>
          </a:xfrm>
          <a:prstGeom prst="roundRect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4864607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Permissioned Bank Blockchain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504688"/>
            <a:ext cx="7040880" cy="548640"/>
          </a:xfrm>
          <a:prstGeom prst="roundRect">
            <a:avLst/>
          </a:prstGeom>
          <a:solidFill>
            <a:srgbClr val="8B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5522976"/>
            <a:ext cx="7040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Audit / Regulator /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651760"/>
            <a:ext cx="1828800" cy="14630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69748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Non-blockchain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banks join via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gateway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4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5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54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57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60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63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66" dur="500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69" dur="500"/>
                            <p:tgtEl>
                              <p:spTgt spid="1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72" dur="500"/>
                            <p:tgtEl>
                              <p:spTgt spid="2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1: Detect Before Money Leaves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Airport-security for payments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Customer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Initiation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Context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Rule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Optional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Shared Fraud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377440"/>
            <a:ext cx="141732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377440"/>
            <a:ext cx="1417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142E"/>
                </a:solidFill>
                <a:latin typeface="Segoe UI"/>
              </a:rPr>
              <a:t>Risk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206240"/>
            <a:ext cx="1828800" cy="4114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2336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GREEN continue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206240"/>
            <a:ext cx="1828800" cy="4114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2336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AMBER 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206240"/>
            <a:ext cx="1828800" cy="41148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336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RED hold/review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7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75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78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8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84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87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90" dur="500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93" dur="500"/>
                            <p:tgtEl>
                              <p:spTgt spid="1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2: Risk Decision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Right friction only when risky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645920"/>
            <a:ext cx="2286000" cy="73152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3108960" cy="14630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Low 0–30</a:t>
            </a:r>
          </a:p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Instant 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08960"/>
            <a:ext cx="3108960" cy="14630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Med 30–60</a:t>
            </a:r>
          </a:p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Step-up 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08960"/>
            <a:ext cx="3108960" cy="146304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108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High 60–100</a:t>
            </a:r>
          </a:p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Escrow /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7B0"/>
                </a:solidFill>
                <a:latin typeface="Segoe UI"/>
              </a:rPr>
              <a:t>Combines rules · behaviour · beneficiary · device · velocity · mule intel ·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9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96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99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02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05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3: Consortium Bank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Banks fight fraud as a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926080"/>
            <a:ext cx="1920240" cy="100584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2926080"/>
            <a:ext cx="1920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42E"/>
                </a:solidFill>
                <a:latin typeface="Segoe UI"/>
              </a:rPr>
              <a:t>Shared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1828800" cy="8229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64592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Bank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1828800" cy="8229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Bank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572000"/>
            <a:ext cx="1828800" cy="8229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57200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Bank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572000"/>
            <a:ext cx="1828800" cy="822960"/>
          </a:xfrm>
          <a:prstGeom prst="roundRect">
            <a:avLst/>
          </a:prstGeom>
          <a:solidFill>
            <a:srgbClr val="8B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57200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Bank D (gateway)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5120640"/>
            <a:ext cx="1828800" cy="4114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1480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Regulator Observer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0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08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1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14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17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20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4: Mempool, Consensus &amp; Shared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If one messenger lies, the majority protects the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011680" cy="91440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Mempool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74320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Bank A</a:t>
            </a:r>
          </a:p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valid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108960"/>
            <a:ext cx="274320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10896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Bank B</a:t>
            </a:r>
          </a:p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389120"/>
            <a:ext cx="2743200" cy="100584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438912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Bank C</a:t>
            </a:r>
          </a:p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mismatch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60320"/>
            <a:ext cx="3657600" cy="137160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560320"/>
            <a:ext cx="3657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B142E"/>
                </a:solidFill>
                <a:latin typeface="Segoe UI"/>
              </a:rPr>
              <a:t>2-of-3 agree</a:t>
            </a:r>
          </a:p>
          <a:p>
            <a:pPr algn="ctr"/>
            <a:r>
              <a:rPr sz="2000" b="1">
                <a:solidFill>
                  <a:srgbClr val="0B142E"/>
                </a:solidFill>
                <a:latin typeface="Segoe UI"/>
              </a:rPr>
              <a:t>Block sealed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23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26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29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32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35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5: Smart Contract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High-risk money waits safely in a safe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486400" cy="5943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42E"/>
                </a:solidFill>
                <a:latin typeface="Segoe UI"/>
              </a:rPr>
              <a:t>Escrow holds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5486400" cy="5943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42E"/>
                </a:solidFill>
                <a:latin typeface="Segoe UI"/>
              </a:rPr>
              <a:t>Cooling-off 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5486400" cy="5943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42E"/>
                </a:solidFill>
                <a:latin typeface="Segoe UI"/>
              </a:rPr>
              <a:t>Multi-signature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5486400" cy="5943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42E"/>
                </a:solidFill>
                <a:latin typeface="Segoe UI"/>
              </a:rPr>
              <a:t>Reverse if confirmed fraud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5486400" cy="5943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42E"/>
                </a:solidFill>
                <a:latin typeface="Segoe UI"/>
              </a:rPr>
              <a:t>Customer opt-in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3474720" cy="237744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34747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VAULT</a:t>
            </a:r>
          </a:p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held + cool-off</a:t>
            </a:r>
          </a:p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2 keys to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38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4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44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47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50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53" dur="500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HLD Zone 6: Non-Blockchain Bank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Adopt gradually. Protect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05840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Path A: Blockchain bank → validator node → shared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058400" cy="914400"/>
          </a:xfrm>
          <a:prstGeom prst="roundRect">
            <a:avLst/>
          </a:prstGeom>
          <a:solidFill>
            <a:srgbClr val="8B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Path B: Non-blockchain bank → gateway adapter → scoring +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7B0"/>
                </a:solidFill>
                <a:latin typeface="Segoe UI"/>
              </a:rPr>
              <a:t>No core replacement · gateway integration · optional escrow · validator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56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59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End-to-End Flow: Payment to Ledger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One payment. One decision. One shared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1 Enter pay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01168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0116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2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01168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116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3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011680"/>
            <a:ext cx="2011680" cy="109728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0116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4 Risk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01168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0116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5 Low→settle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6 Med→verify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47472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47472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7 High→escrow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474720"/>
            <a:ext cx="2011680" cy="109728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47472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8 Validate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474720"/>
            <a:ext cx="2011680" cy="109728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47472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42E"/>
                </a:solidFill>
                <a:latin typeface="Segoe UI"/>
              </a:rPr>
              <a:t>9 Audit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6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62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65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68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71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74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77" dur="500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80" dur="500"/>
                            <p:tgtEl>
                              <p:spTgt spid="1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8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83" dur="500"/>
                            <p:tgtEl>
                              <p:spTgt spid="2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8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86" dur="500"/>
                            <p:tgtEl>
                              <p:spTgt spid="2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Deep Dive: Ledger, Hashes &amp; Tamper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Every block remembers the truth before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2377440" cy="1463040"/>
          </a:xfrm>
          <a:prstGeom prst="roundRect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3774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Block 1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hash→prev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377440" cy="1463040"/>
          </a:xfrm>
          <a:prstGeom prst="roundRect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23774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Block 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hash→prev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2377440" cy="146304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3774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Block 3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hash→prev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560320"/>
            <a:ext cx="2377440" cy="1463040"/>
          </a:xfrm>
          <a:prstGeom prst="roundRect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560320"/>
            <a:ext cx="23774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Block 4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hash→prev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C43C"/>
                </a:solidFill>
                <a:latin typeface="Segoe UI"/>
              </a:rPr>
              <a:t>Tamper changes fingerprint → network detects mismatch → restores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8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89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92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95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198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LLM &amp; Global Fraud DB: Optional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AI spots patterns. Ledger proves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828800"/>
            <a:ext cx="2377440" cy="91440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AI /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228600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474720"/>
            <a:ext cx="228600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4747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Beneficiary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28600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Narratives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474720"/>
            <a:ext cx="2286000" cy="91440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4747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Mule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7B0"/>
                </a:solidFill>
                <a:latin typeface="Segoe UI"/>
              </a:rPr>
              <a:t>LLM is optional; explainable signals shown to bank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19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0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0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04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0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07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0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10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1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13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Bank Onboarding: Proof of Stake &amp; Plug-in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Trust is earned before a bank writes to the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1 Onboard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2 Certificates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3 Choose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4 Connect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5661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5661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5 Read/write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566160"/>
            <a:ext cx="3291840" cy="10058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56616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142E"/>
                </a:solidFill>
                <a:latin typeface="Segoe UI"/>
              </a:rPr>
              <a:t>6 Earn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7B0"/>
                </a:solidFill>
                <a:latin typeface="Segoe UI"/>
              </a:rPr>
              <a:t>Stake = skin in the game; bad behaviour risks penalties/removal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21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16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1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19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22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25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28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31" dur="500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Phase-Wise Metrics &amp;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If we cannot measure it, we cannot prove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06040" cy="12801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606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Pilot: sandbox +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606040" cy="12801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606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MVP: 3 banks + 2/3 consensus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606040" cy="12801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606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Smart: escrow + multisig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2011680"/>
            <a:ext cx="2606040" cy="128016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39" y="2011680"/>
            <a:ext cx="2606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2E"/>
                </a:solidFill>
                <a:latin typeface="Segoe UI"/>
              </a:rPr>
              <a:t>Scale: regulator +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789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C43C"/>
                </a:solidFill>
                <a:latin typeface="Segoe UI"/>
              </a:rPr>
              <a:t>Metrics:</a:t>
            </a:r>
          </a:p>
          <a:p>
            <a:pPr algn="l"/>
            <a:r>
              <a:rPr sz="1600" b="0">
                <a:solidFill>
                  <a:srgbClr val="F4C43C"/>
                </a:solidFill>
                <a:latin typeface="Segoe UI"/>
              </a:rPr>
              <a:t>Fraud prevented · risk-decision time · hold success</a:t>
            </a:r>
          </a:p>
          <a:p>
            <a:pPr algn="l"/>
            <a:r>
              <a:rPr sz="1600" b="0">
                <a:solidFill>
                  <a:srgbClr val="F4C43C"/>
                </a:solidFill>
                <a:latin typeface="Segoe UI"/>
              </a:rPr>
              <a:t>false-positive rate · mule speed · evidence retrieval</a:t>
            </a:r>
          </a:p>
          <a:p>
            <a:pPr algn="l"/>
            <a:r>
              <a:rPr sz="1600" b="0">
                <a:solidFill>
                  <a:srgbClr val="F4C43C"/>
                </a:solidFill>
                <a:latin typeface="Segoe UI"/>
              </a:rPr>
              <a:t>loss reduction · trust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23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34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37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40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4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43" dur="500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Honest Assessment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From reimbursing losses to preventing losses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29200" cy="310896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Before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Fragmented banks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Late investigation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Money gone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029200" cy="310896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After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Connected banks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Real-time scoring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Escrow + shared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B97B0"/>
                </a:solidFill>
                <a:latin typeface="Segoe UI"/>
              </a:rPr>
              <a:t>Not a silver bullet: needs participation, tuning, privacy,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C43C"/>
                </a:solidFill>
                <a:latin typeface="Segoe UI"/>
              </a:rPr>
              <a:t>PREVENT · PROVE · RESTORE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8B97B0"/>
                </a:solidFill>
                <a:latin typeface="Segoe UI"/>
              </a:rPr>
              <a:t>FraudShield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24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46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4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49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" cy="822960"/>
          </a:xfrm>
          <a:prstGeom prst="roundRect">
            <a:avLst/>
          </a:prstGeom>
          <a:solidFill>
            <a:srgbClr val="F4C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Technology Stack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B97B0"/>
                </a:solidFill>
                <a:latin typeface="Segoe UI"/>
              </a:rPr>
              <a:t>Backend → Ledger →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42062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20440" cy="548640"/>
          </a:xfrm>
          <a:prstGeom prst="round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Java Spring Boot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Microservices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Real-time APIs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Event driven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Kafka async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Low latency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Secure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42062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548640"/>
          </a:xfrm>
          <a:prstGeom prst="roundRect">
            <a:avLst/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Shared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Hyperledger Fabric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Permissioned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Consortium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Validator nodes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2-of-3 consensus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On: hash+proof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Off: PII+bank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3520440" cy="4206240"/>
          </a:xfrm>
          <a:prstGeom prst="roundRect">
            <a:avLst/>
          </a:prstGeom>
          <a:solidFill>
            <a:srgbClr val="18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645920"/>
            <a:ext cx="3520440" cy="548640"/>
          </a:xfrm>
          <a:prstGeom prst="round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645920"/>
            <a:ext cx="3520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42E"/>
                </a:solidFill>
                <a:latin typeface="Segoe UI"/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Real-time scoring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&lt; 200 ms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50–100 tps proto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1000+ tps scale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Parallel validate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Horizontal scale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Self-healing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C43C"/>
                </a:solidFill>
                <a:latin typeface="Segoe UI"/>
              </a:rPr>
              <a:t>Enterprise Backend · Permissioned Trust Network · Real-Time Decisions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25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52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5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55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5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dur="500">
                          <p:cBhvr additive="base">
                            <p:cTn id="258" dur="500"/>
                            <p:tgtEl>
                              <p:spTgt spid="1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0000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